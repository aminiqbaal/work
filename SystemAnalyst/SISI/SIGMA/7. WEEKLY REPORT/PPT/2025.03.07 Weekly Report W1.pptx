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Lato Light"/>
      <p:regular r:id="rId18"/>
      <p:bold r:id="rId19"/>
      <p:italic r:id="rId20"/>
      <p:boldItalic r:id="rId21"/>
    </p:embeddedFon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dNy2DZ4hk1JPMixbJFFqX9VAD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5509FE-6391-4EBF-B179-613A5BBFAF76}">
  <a:tblStyle styleId="{B65509FE-6391-4EBF-B179-613A5BBFAF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Light-italic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LatoLight-boldItalic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HelveticaNeue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19" Type="http://schemas.openxmlformats.org/officeDocument/2006/relationships/font" Target="fonts/LatoLight-bold.fntdata"/><Relationship Id="rId18" Type="http://schemas.openxmlformats.org/officeDocument/2006/relationships/font" Target="fonts/Lato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d57715a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30d57715a3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epan">
  <p:cSld name="Cover Depa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ctrTitle"/>
          </p:nvPr>
        </p:nvSpPr>
        <p:spPr>
          <a:xfrm>
            <a:off x="6096000" y="2034283"/>
            <a:ext cx="5472608" cy="27003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600"/>
              <a:buFont typeface="Helvetica Neue"/>
              <a:buNone/>
              <a:defRPr b="1" i="0" sz="5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subTitle"/>
          </p:nvPr>
        </p:nvSpPr>
        <p:spPr>
          <a:xfrm>
            <a:off x="6095997" y="4941168"/>
            <a:ext cx="5472609" cy="381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666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0" name="Google Shape;2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68408" y="261124"/>
            <a:ext cx="2139782" cy="1350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rima Kasih (Cover Belakang)">
  <p:cSld name="Terima Kasih (Cover Belakang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/>
        </p:nvSpPr>
        <p:spPr>
          <a:xfrm>
            <a:off x="6619511" y="1110407"/>
            <a:ext cx="38234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78"/>
              </a:buClr>
              <a:buSzPts val="3600"/>
              <a:buFont typeface="Helvetica Neue"/>
              <a:buNone/>
            </a:pPr>
            <a:r>
              <a:rPr b="1" i="1" lang="en-US" sz="3600" u="none" cap="none" strike="noStrike">
                <a:solidFill>
                  <a:srgbClr val="0038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Terima Kasih</a:t>
            </a:r>
            <a:endParaRPr b="1" i="1" sz="3600" u="none" cap="none" strike="noStrike">
              <a:solidFill>
                <a:srgbClr val="00387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8426" y="1673094"/>
            <a:ext cx="4425653" cy="267038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/>
        </p:nvSpPr>
        <p:spPr>
          <a:xfrm>
            <a:off x="5745104" y="4221088"/>
            <a:ext cx="5607624" cy="1196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PT SINERGI INFORMATIKA SEMEN INDONESIA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Graha Aktiva, 11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</a:t>
            </a:r>
            <a:r>
              <a:rPr b="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Floor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Jl. H. R. Rasuna Said Kav 3, South Jakarta 12950 – Indonesia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P: +62 21 2941 0371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360" y="347375"/>
            <a:ext cx="869932" cy="489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ww.sisi.id" id="26" name="Google Shape;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916" y="5657552"/>
            <a:ext cx="2012671" cy="406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334964" y="1340768"/>
            <a:ext cx="11522074" cy="4754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b="0" i="0" sz="2400">
                <a:latin typeface="Lato Light"/>
                <a:ea typeface="Lato Light"/>
                <a:cs typeface="Lato Light"/>
                <a:sym typeface="Lato Light"/>
              </a:defRPr>
            </a:lvl4pPr>
            <a:lvl5pPr indent="-3810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b="0" i="0" sz="2400">
                <a:latin typeface="Lato Light"/>
                <a:ea typeface="Lato Light"/>
                <a:cs typeface="Lato Light"/>
                <a:sym typeface="Lato Light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334963" y="6274915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038601" y="6288718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9113838" y="6290993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334963" y="283237"/>
            <a:ext cx="10801597" cy="97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334962" y="1340768"/>
            <a:ext cx="5583237" cy="83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 b="1" i="0"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334962" y="2321842"/>
            <a:ext cx="5583237" cy="384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0" type="dt"/>
          </p:nvPr>
        </p:nvSpPr>
        <p:spPr>
          <a:xfrm>
            <a:off x="383380" y="6290993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1" type="ftr"/>
          </p:nvPr>
        </p:nvSpPr>
        <p:spPr>
          <a:xfrm>
            <a:off x="4062809" y="6281266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9113838" y="6281266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2"/>
          <p:cNvSpPr txBox="1"/>
          <p:nvPr>
            <p:ph idx="3" type="body"/>
          </p:nvPr>
        </p:nvSpPr>
        <p:spPr>
          <a:xfrm>
            <a:off x="6273801" y="1340768"/>
            <a:ext cx="5583237" cy="83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 b="1" i="0"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2"/>
          <p:cNvSpPr txBox="1"/>
          <p:nvPr>
            <p:ph idx="4" type="body"/>
          </p:nvPr>
        </p:nvSpPr>
        <p:spPr>
          <a:xfrm>
            <a:off x="6273801" y="2321842"/>
            <a:ext cx="5583237" cy="384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type="title"/>
          </p:nvPr>
        </p:nvSpPr>
        <p:spPr>
          <a:xfrm>
            <a:off x="334963" y="283237"/>
            <a:ext cx="10801597" cy="97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522808" y="6218985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132523" y="6218985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9113838" y="6218985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334963" y="2091708"/>
            <a:ext cx="11522075" cy="9686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Helvetica Neue"/>
              <a:buNone/>
              <a:defRPr b="1" i="0" sz="24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334963" y="3154680"/>
            <a:ext cx="11494181" cy="28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1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71152" y="6093129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71552" y="6093129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43552" y="6093129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7"/>
          <p:cNvSpPr txBox="1"/>
          <p:nvPr/>
        </p:nvSpPr>
        <p:spPr>
          <a:xfrm>
            <a:off x="12686274" y="2310714"/>
            <a:ext cx="18473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7"/>
          <p:cNvSpPr txBox="1"/>
          <p:nvPr/>
        </p:nvSpPr>
        <p:spPr>
          <a:xfrm>
            <a:off x="191344" y="6381328"/>
            <a:ext cx="44644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7F7F"/>
                </a:solidFill>
                <a:latin typeface="Proxima Nova"/>
                <a:ea typeface="Proxima Nova"/>
                <a:cs typeface="Proxima Nova"/>
                <a:sym typeface="Proxima Nova"/>
              </a:rPr>
              <a:t>© PT Sinergi Informatika Semen Indonesia (SISI)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7F7F"/>
                </a:solidFill>
                <a:latin typeface="Proxima Nova"/>
                <a:ea typeface="Proxima Nova"/>
                <a:cs typeface="Proxima Nova"/>
                <a:sym typeface="Proxima Nova"/>
              </a:rPr>
              <a:t>All contents featured in this document is confidential and belong to their respective author(s).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1">
          <p15:clr>
            <a:srgbClr val="F26B43"/>
          </p15:clr>
        </p15:guide>
        <p15:guide id="2" pos="7469">
          <p15:clr>
            <a:srgbClr val="F26B43"/>
          </p15:clr>
        </p15:guide>
        <p15:guide id="3" orient="horz" pos="232">
          <p15:clr>
            <a:srgbClr val="F26B43"/>
          </p15:clr>
        </p15:guide>
        <p15:guide id="4" orient="horz" pos="374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334963" y="283237"/>
            <a:ext cx="10801597" cy="97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334963" y="1356438"/>
            <a:ext cx="11522075" cy="47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334963" y="6290993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038600" y="6281265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9113838" y="6277326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6560" y="74471"/>
            <a:ext cx="978796" cy="6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9"/>
          <p:cNvSpPr txBox="1"/>
          <p:nvPr/>
        </p:nvSpPr>
        <p:spPr>
          <a:xfrm>
            <a:off x="191344" y="6381328"/>
            <a:ext cx="44644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7F7F"/>
                </a:solidFill>
                <a:latin typeface="Proxima Nova"/>
                <a:ea typeface="Proxima Nova"/>
                <a:cs typeface="Proxima Nova"/>
                <a:sym typeface="Proxima Nova"/>
              </a:rPr>
              <a:t>© PT Sinergi Informatika Semen Indonesia (SISI)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7F7F"/>
                </a:solidFill>
                <a:latin typeface="Proxima Nova"/>
                <a:ea typeface="Proxima Nova"/>
                <a:cs typeface="Proxima Nova"/>
                <a:sym typeface="Proxima Nova"/>
              </a:rPr>
              <a:t>All contents featured in this document is confidential and belong to their respective author(s).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  <p:sldLayoutId id="2147483653" r:id="rId4"/>
    <p:sldLayoutId id="214748365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1">
          <p15:clr>
            <a:srgbClr val="F26B43"/>
          </p15:clr>
        </p15:guide>
        <p15:guide id="2" orient="horz" pos="232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845">
          <p15:clr>
            <a:srgbClr val="F26B43"/>
          </p15:clr>
        </p15:guide>
        <p15:guide id="5" orient="horz" pos="958">
          <p15:clr>
            <a:srgbClr val="F26B43"/>
          </p15:clr>
        </p15:guide>
        <p15:guide id="6" pos="6630">
          <p15:clr>
            <a:srgbClr val="F26B43"/>
          </p15:clr>
        </p15:guide>
        <p15:guide id="7" pos="6448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3861">
          <p15:clr>
            <a:srgbClr val="F26B43"/>
          </p15:clr>
        </p15:guide>
        <p15:guide id="10" orient="horz" pos="3748">
          <p15:clr>
            <a:srgbClr val="F26B43"/>
          </p15:clr>
        </p15:guide>
        <p15:guide id="11" orient="horz" pos="363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5918425" y="1734150"/>
            <a:ext cx="6273900" cy="26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Helvetica Neue"/>
              <a:buNone/>
            </a:pPr>
            <a:r>
              <a:rPr lang="en-US" sz="3600">
                <a:solidFill>
                  <a:srgbClr val="00B0F0"/>
                </a:solidFill>
              </a:rPr>
              <a:t>Resume Weekly Report</a:t>
            </a:r>
            <a:br>
              <a:rPr lang="en-US" sz="3600"/>
            </a:br>
            <a:r>
              <a:rPr lang="en-US" sz="3600">
                <a:solidFill>
                  <a:srgbClr val="003878"/>
                </a:solidFill>
              </a:rPr>
              <a:t>Jasa Konsultan Pengembangan Aplikasi SIGMA SIG</a:t>
            </a:r>
            <a:r>
              <a:rPr lang="en-US" sz="3600">
                <a:solidFill>
                  <a:srgbClr val="003878"/>
                </a:solidFill>
              </a:rPr>
              <a:t> 1 2025-2028</a:t>
            </a:r>
            <a:endParaRPr/>
          </a:p>
        </p:txBody>
      </p:sp>
      <p:sp>
        <p:nvSpPr>
          <p:cNvPr id="59" name="Google Shape;59;p1"/>
          <p:cNvSpPr txBox="1"/>
          <p:nvPr>
            <p:ph idx="1" type="subTitle"/>
          </p:nvPr>
        </p:nvSpPr>
        <p:spPr>
          <a:xfrm>
            <a:off x="7025550" y="4788775"/>
            <a:ext cx="5166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Jumat, 07 Maret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idx="1" type="body"/>
          </p:nvPr>
        </p:nvSpPr>
        <p:spPr>
          <a:xfrm>
            <a:off x="334964" y="1340768"/>
            <a:ext cx="11522074" cy="4754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>
            <p:ph type="title"/>
          </p:nvPr>
        </p:nvSpPr>
        <p:spPr>
          <a:xfrm>
            <a:off x="334964" y="646886"/>
            <a:ext cx="10801597" cy="97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Helvetica Neue"/>
              <a:buNone/>
            </a:pPr>
            <a:r>
              <a:rPr lang="en-US" sz="2400"/>
              <a:t>Content</a:t>
            </a:r>
            <a:endParaRPr sz="2400"/>
          </a:p>
        </p:txBody>
      </p:sp>
      <p:sp>
        <p:nvSpPr>
          <p:cNvPr id="66" name="Google Shape;66;p2"/>
          <p:cNvSpPr/>
          <p:nvPr/>
        </p:nvSpPr>
        <p:spPr>
          <a:xfrm>
            <a:off x="988370" y="2211212"/>
            <a:ext cx="4184847" cy="543368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>
              <a:alpha val="49411"/>
            </a:schemeClr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4450" algn="ctr" dir="5400000" dist="27940">
              <a:srgbClr val="000000">
                <a:alpha val="3137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</a:t>
            </a:r>
            <a:r>
              <a:rPr b="1" lang="en-US" sz="2200">
                <a:latin typeface="Proxima Nova"/>
                <a:ea typeface="Proxima Nova"/>
                <a:cs typeface="Proxima Nova"/>
                <a:sym typeface="Proxima Nova"/>
              </a:rPr>
              <a:t>Highlights Activity</a:t>
            </a:r>
            <a:endParaRPr b="0" i="0" sz="2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76148" y="2090791"/>
            <a:ext cx="563902" cy="599694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>
            <a:outerShdw blurRad="57785" algn="ctr" dir="3180000" dist="33020">
              <a:srgbClr val="000000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988370" y="3239745"/>
            <a:ext cx="4184847" cy="543368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>
              <a:alpha val="49411"/>
            </a:schemeClr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4450" algn="ctr" dir="5400000" dist="27940">
              <a:srgbClr val="000000">
                <a:alpha val="3137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Activity of The Week</a:t>
            </a:r>
            <a:endParaRPr b="0" i="0" sz="2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76148" y="3177452"/>
            <a:ext cx="563902" cy="599694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>
            <a:outerShdw blurRad="57785" algn="ctr" dir="3180000" dist="33020">
              <a:srgbClr val="000000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906345" y="4223840"/>
            <a:ext cx="4184847" cy="543368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>
              <a:alpha val="49411"/>
            </a:schemeClr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4450" algn="ctr" dir="5400000" dist="27940">
              <a:srgbClr val="000000">
                <a:alpha val="3137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Next Week Activity Plan </a:t>
            </a:r>
            <a:endParaRPr b="0" i="0" sz="2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58832" y="4103419"/>
            <a:ext cx="563902" cy="599694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>
            <a:outerShdw blurRad="57785" algn="ctr" dir="3180000" dist="33020">
              <a:srgbClr val="000000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333075" y="5143000"/>
            <a:ext cx="10577100" cy="1234500"/>
          </a:xfrm>
          <a:prstGeom prst="rect">
            <a:avLst/>
          </a:prstGeom>
          <a:solidFill>
            <a:srgbClr val="191919">
              <a:alpha val="2350"/>
            </a:srgbClr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US" sz="1700">
                <a:latin typeface="Twentieth Century"/>
                <a:ea typeface="Twentieth Century"/>
                <a:cs typeface="Twentieth Century"/>
                <a:sym typeface="Twentieth Century"/>
              </a:rPr>
              <a:t>Penyesuaian Mock-up dengan bisnis proses dari SIGMA</a:t>
            </a:r>
            <a:endParaRPr sz="17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3"/>
          <p:cNvSpPr/>
          <p:nvPr>
            <p:ph type="title"/>
          </p:nvPr>
        </p:nvSpPr>
        <p:spPr>
          <a:xfrm>
            <a:off x="334963" y="404664"/>
            <a:ext cx="576461" cy="479899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>
            <a:outerShdw blurRad="57785" algn="ctr" dir="3180000" dist="33020">
              <a:srgbClr val="000000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911424" y="432247"/>
            <a:ext cx="4600618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Highlights Activity</a:t>
            </a:r>
            <a:endParaRPr b="1" i="0" sz="24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9" name="Google Shape;79;p3"/>
          <p:cNvGrpSpPr/>
          <p:nvPr/>
        </p:nvGrpSpPr>
        <p:grpSpPr>
          <a:xfrm>
            <a:off x="323512" y="908700"/>
            <a:ext cx="10576961" cy="3992046"/>
            <a:chOff x="6176860" y="1127173"/>
            <a:chExt cx="5748036" cy="2297977"/>
          </a:xfrm>
        </p:grpSpPr>
        <p:sp>
          <p:nvSpPr>
            <p:cNvPr id="80" name="Google Shape;80;p3"/>
            <p:cNvSpPr/>
            <p:nvPr/>
          </p:nvSpPr>
          <p:spPr>
            <a:xfrm>
              <a:off x="6393496" y="1130450"/>
              <a:ext cx="5531400" cy="2294700"/>
            </a:xfrm>
            <a:prstGeom prst="rect">
              <a:avLst/>
            </a:prstGeom>
            <a:solidFill>
              <a:srgbClr val="191919">
                <a:alpha val="2350"/>
              </a:srgbClr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6176860" y="1127173"/>
              <a:ext cx="288000" cy="2294700"/>
            </a:xfrm>
            <a:prstGeom prst="rect">
              <a:avLst/>
            </a:prstGeom>
            <a:solidFill>
              <a:srgbClr val="13538A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2" name="Google Shape;82;p3"/>
            <p:cNvSpPr txBox="1"/>
            <p:nvPr/>
          </p:nvSpPr>
          <p:spPr>
            <a:xfrm rot="-5400000">
              <a:off x="5125346" y="2212614"/>
              <a:ext cx="2268000" cy="15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S-Curve Project</a:t>
              </a:r>
              <a:endParaRPr b="1" i="0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83" name="Google Shape;83;p3"/>
          <p:cNvSpPr txBox="1"/>
          <p:nvPr/>
        </p:nvSpPr>
        <p:spPr>
          <a:xfrm>
            <a:off x="8917777" y="1365325"/>
            <a:ext cx="57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9%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115925" y="1365315"/>
            <a:ext cx="729300" cy="2784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115922" y="1731916"/>
            <a:ext cx="729300" cy="27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</a:t>
            </a:r>
            <a:endParaRPr b="0" i="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8921153" y="1731123"/>
            <a:ext cx="57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115922" y="2098541"/>
            <a:ext cx="729300" cy="278400"/>
          </a:xfrm>
          <a:prstGeom prst="rect">
            <a:avLst/>
          </a:prstGeom>
          <a:solidFill>
            <a:srgbClr val="F03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</a:t>
            </a:r>
            <a:endParaRPr b="0" i="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8921115" y="2096923"/>
            <a:ext cx="57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0" i="0" lang="en-U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 rot="5400000">
            <a:off x="1847700" y="3490925"/>
            <a:ext cx="351300" cy="3380700"/>
          </a:xfrm>
          <a:prstGeom prst="rect">
            <a:avLst/>
          </a:prstGeom>
          <a:solidFill>
            <a:srgbClr val="13538A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347923" y="5001600"/>
            <a:ext cx="32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HIGHLIGHTS – Issue Project (Gap)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200" y="1064425"/>
            <a:ext cx="6304524" cy="3682112"/>
          </a:xfrm>
          <a:prstGeom prst="rect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>
            <p:ph type="title"/>
          </p:nvPr>
        </p:nvSpPr>
        <p:spPr>
          <a:xfrm>
            <a:off x="334963" y="404664"/>
            <a:ext cx="576461" cy="479899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>
            <a:outerShdw blurRad="57785" algn="ctr" dir="3180000" dist="33020">
              <a:srgbClr val="000000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911424" y="432247"/>
            <a:ext cx="3956339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Activity of The Week</a:t>
            </a:r>
            <a:endParaRPr b="1" i="0" sz="24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4"/>
          <p:cNvSpPr txBox="1"/>
          <p:nvPr>
            <p:ph idx="1" type="body"/>
          </p:nvPr>
        </p:nvSpPr>
        <p:spPr>
          <a:xfrm>
            <a:off x="334964" y="1340768"/>
            <a:ext cx="11522074" cy="4754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46" lvl="0" marL="17144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99" name="Google Shape;99;p4"/>
          <p:cNvGraphicFramePr/>
          <p:nvPr/>
        </p:nvGraphicFramePr>
        <p:xfrm>
          <a:off x="1420228" y="1772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{B65509FE-6391-4EBF-B179-613A5BBFAF76}</a:tableStyleId>
              </a:tblPr>
              <a:tblGrid>
                <a:gridCol w="3456375"/>
                <a:gridCol w="1800200"/>
                <a:gridCol w="1728000"/>
                <a:gridCol w="2016825"/>
              </a:tblGrid>
              <a:tr h="34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Activity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Date Start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Date End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Status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</a:tr>
              <a:tr h="34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Kick Off Meeting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Done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</a:tr>
              <a:tr h="34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Getting Requirement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 Progress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</a:tr>
              <a:tr h="34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Penyusunan Business Blueprint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 Progress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</a:tr>
              <a:tr h="42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Penyusunan Mock-up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03-0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03-0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 Progress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>
            <p:ph type="title"/>
          </p:nvPr>
        </p:nvSpPr>
        <p:spPr>
          <a:xfrm>
            <a:off x="334963" y="404664"/>
            <a:ext cx="576461" cy="479899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>
            <a:outerShdw blurRad="57785" algn="ctr" dir="3180000" dist="33020">
              <a:srgbClr val="000000">
                <a:alpha val="29411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911424" y="432247"/>
            <a:ext cx="4583114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Week Activity Plan</a:t>
            </a:r>
            <a:endParaRPr b="1" i="0" sz="24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5"/>
          <p:cNvSpPr txBox="1"/>
          <p:nvPr>
            <p:ph idx="1" type="body"/>
          </p:nvPr>
        </p:nvSpPr>
        <p:spPr>
          <a:xfrm>
            <a:off x="334964" y="1340768"/>
            <a:ext cx="11522074" cy="4754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46" lvl="0" marL="17144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107" name="Google Shape;107;p5"/>
          <p:cNvGraphicFramePr/>
          <p:nvPr/>
        </p:nvGraphicFramePr>
        <p:xfrm>
          <a:off x="1424464" y="1484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{B65509FE-6391-4EBF-B179-613A5BBFAF76}</a:tableStyleId>
              </a:tblPr>
              <a:tblGrid>
                <a:gridCol w="3378700"/>
                <a:gridCol w="1800200"/>
                <a:gridCol w="1728000"/>
                <a:gridCol w="2016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Activity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Date Start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Date End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Status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</a:tr>
              <a:tr h="14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Getting Requirement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Proxima Nova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07-0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13-0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Penyusunan Business Blueprint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Proxima Nova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Proxima Nova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13-0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Penyusunan Mock-up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Proxima Nova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7-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Proxima Nova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13-0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Persiapan Environment Development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07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Proxima Nova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</a:t>
                      </a:r>
                      <a:endParaRPr sz="18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0d57715a3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475" y="569125"/>
            <a:ext cx="11195049" cy="57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TENT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2024-09-06T01:30:21Z</dcterms:created>
  <dc:creator>ISAK SETIAWAN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0x0101003200BE3B1473EA4FAE0A8C0A3D0DA6DA</vt:lpwstr>
  </property>
</Properties>
</file>