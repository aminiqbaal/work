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71" r:id="rId3"/>
    <p:sldMasterId id="2147483676" r:id="rId4"/>
    <p:sldMasterId id="2147483688" r:id="rId5"/>
  </p:sldMasterIdLst>
  <p:sldIdLst>
    <p:sldId id="266" r:id="rId6"/>
    <p:sldId id="268" r:id="rId7"/>
    <p:sldId id="278" r:id="rId8"/>
    <p:sldId id="267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62" autoAdjust="0"/>
    <p:restoredTop sz="94660"/>
  </p:normalViewPr>
  <p:slideViewPr>
    <p:cSldViewPr snapToGrid="0">
      <p:cViewPr varScale="1">
        <p:scale>
          <a:sx n="40" d="100"/>
          <a:sy n="40" d="100"/>
        </p:scale>
        <p:origin x="40" y="44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TA\Infrastruktur%20-%20Monitoring%20&amp;%20Kantong%20Pecah\20250630%20Kertas%20Kerja%20Kantong%20Pecah%202025%20(Upto%20Juni)%20minus%20PP%20SB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TA\Infrastruktur%20-%20Monitoring%20&amp;%20Kantong%20Pecah\20250630%20Kertas%20Kerja%20Kantong%20Pecah%202025%20(Upto%20Juni)%20minus%20PP%20SBI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TA\Infrastruktur%20-%20Monitoring%20&amp;%20Kantong%20Pecah\20250630%20Kertas%20Kerja%20Kantong%20Pecah%202025%20(Upto%20Juni)%20minus%20PP%20SBI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b="1"/>
              <a:t>PP BENGKULU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Jun!$C$11</c:f>
              <c:strCache>
                <c:ptCount val="1"/>
                <c:pt idx="0">
                  <c:v>Mulut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Jun!$D$2:$G$2</c:f>
              <c:strCache>
                <c:ptCount val="4"/>
                <c:pt idx="0">
                  <c:v>Packer Machine</c:v>
                </c:pt>
                <c:pt idx="1">
                  <c:v>Dropping dari Packer ke Belt Conveyor</c:v>
                </c:pt>
                <c:pt idx="2">
                  <c:v>Transport Belt Conveyor Panjang</c:v>
                </c:pt>
                <c:pt idx="3">
                  <c:v>Di Truck</c:v>
                </c:pt>
              </c:strCache>
            </c:strRef>
          </c:cat>
          <c:val>
            <c:numRef>
              <c:f>Jun!$D$11:$G$11</c:f>
              <c:numCache>
                <c:formatCode>_(* #,##0_);_(* \(#,##0\);_(* "-"_);_(@_)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B53B-4F61-94B5-CDE145220D70}"/>
            </c:ext>
          </c:extLst>
        </c:ser>
        <c:ser>
          <c:idx val="1"/>
          <c:order val="1"/>
          <c:tx>
            <c:strRef>
              <c:f>Jun!$C$12</c:f>
              <c:strCache>
                <c:ptCount val="1"/>
                <c:pt idx="0">
                  <c:v>Lem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Jun!$D$2:$G$2</c:f>
              <c:strCache>
                <c:ptCount val="4"/>
                <c:pt idx="0">
                  <c:v>Packer Machine</c:v>
                </c:pt>
                <c:pt idx="1">
                  <c:v>Dropping dari Packer ke Belt Conveyor</c:v>
                </c:pt>
                <c:pt idx="2">
                  <c:v>Transport Belt Conveyor Panjang</c:v>
                </c:pt>
                <c:pt idx="3">
                  <c:v>Di Truck</c:v>
                </c:pt>
              </c:strCache>
            </c:strRef>
          </c:cat>
          <c:val>
            <c:numRef>
              <c:f>Jun!$D$12:$G$12</c:f>
              <c:numCache>
                <c:formatCode>_(* #,##0_);_(* \(#,##0\);_(* "-"_);_(@_)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B53B-4F61-94B5-CDE145220D70}"/>
            </c:ext>
          </c:extLst>
        </c:ser>
        <c:ser>
          <c:idx val="2"/>
          <c:order val="2"/>
          <c:tx>
            <c:strRef>
              <c:f>Jun!$C$13</c:f>
              <c:strCache>
                <c:ptCount val="1"/>
                <c:pt idx="0">
                  <c:v>Body Kantong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115176151761517E-2"/>
                  <c:y val="-8.72509226613318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53B-4F61-94B5-CDE145220D70}"/>
                </c:ext>
              </c:extLst>
            </c:dLbl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Jun!$D$2:$G$2</c:f>
              <c:strCache>
                <c:ptCount val="4"/>
                <c:pt idx="0">
                  <c:v>Packer Machine</c:v>
                </c:pt>
                <c:pt idx="1">
                  <c:v>Dropping dari Packer ke Belt Conveyor</c:v>
                </c:pt>
                <c:pt idx="2">
                  <c:v>Transport Belt Conveyor Panjang</c:v>
                </c:pt>
                <c:pt idx="3">
                  <c:v>Di Truck</c:v>
                </c:pt>
              </c:strCache>
            </c:strRef>
          </c:cat>
          <c:val>
            <c:numRef>
              <c:f>Jun!$D$13:$G$13</c:f>
              <c:numCache>
                <c:formatCode>_(* #,##0_);_(* \(#,##0\);_(* "-"_);_(@_)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3-B53B-4F61-94B5-CDE145220D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7235768"/>
        <c:axId val="447235376"/>
      </c:barChart>
      <c:catAx>
        <c:axId val="447235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7235376"/>
        <c:crosses val="autoZero"/>
        <c:auto val="1"/>
        <c:lblAlgn val="ctr"/>
        <c:lblOffset val="100"/>
        <c:noMultiLvlLbl val="0"/>
      </c:catAx>
      <c:valAx>
        <c:axId val="447235376"/>
        <c:scaling>
          <c:orientation val="minMax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7235768"/>
        <c:crosses val="autoZero"/>
        <c:crossBetween val="between"/>
        <c:minorUnit val="2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b="1"/>
              <a:t>PP LAMPUNG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Jun!$C$15</c:f>
              <c:strCache>
                <c:ptCount val="1"/>
                <c:pt idx="0">
                  <c:v>Mulut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Jun!$D$2:$G$2</c:f>
              <c:strCache>
                <c:ptCount val="4"/>
                <c:pt idx="0">
                  <c:v>Packer Machine</c:v>
                </c:pt>
                <c:pt idx="1">
                  <c:v>Dropping dari Packer ke Belt Conveyor</c:v>
                </c:pt>
                <c:pt idx="2">
                  <c:v>Transport Belt Conveyor Panjang</c:v>
                </c:pt>
                <c:pt idx="3">
                  <c:v>Di Truck</c:v>
                </c:pt>
              </c:strCache>
            </c:strRef>
          </c:cat>
          <c:val>
            <c:numRef>
              <c:f>Jun!$D$15:$G$15</c:f>
              <c:numCache>
                <c:formatCode>_(* #,##0_);_(* \(#,##0\);_(* "-"_);_(@_)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7D-40A7-9F6E-E9CA9CCDD72E}"/>
            </c:ext>
          </c:extLst>
        </c:ser>
        <c:ser>
          <c:idx val="1"/>
          <c:order val="1"/>
          <c:tx>
            <c:strRef>
              <c:f>Jun!$C$16</c:f>
              <c:strCache>
                <c:ptCount val="1"/>
                <c:pt idx="0">
                  <c:v>Lem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Jun!$D$2:$G$2</c:f>
              <c:strCache>
                <c:ptCount val="4"/>
                <c:pt idx="0">
                  <c:v>Packer Machine</c:v>
                </c:pt>
                <c:pt idx="1">
                  <c:v>Dropping dari Packer ke Belt Conveyor</c:v>
                </c:pt>
                <c:pt idx="2">
                  <c:v>Transport Belt Conveyor Panjang</c:v>
                </c:pt>
                <c:pt idx="3">
                  <c:v>Di Truck</c:v>
                </c:pt>
              </c:strCache>
            </c:strRef>
          </c:cat>
          <c:val>
            <c:numRef>
              <c:f>Jun!$D$16:$G$16</c:f>
              <c:numCache>
                <c:formatCode>_(* #,##0_);_(* \(#,##0\);_(* "-"_);_(@_)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7D-40A7-9F6E-E9CA9CCDD72E}"/>
            </c:ext>
          </c:extLst>
        </c:ser>
        <c:ser>
          <c:idx val="2"/>
          <c:order val="2"/>
          <c:tx>
            <c:strRef>
              <c:f>Jun!$C$17</c:f>
              <c:strCache>
                <c:ptCount val="1"/>
                <c:pt idx="0">
                  <c:v>Body Kantong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Jun!$D$2:$G$2</c:f>
              <c:strCache>
                <c:ptCount val="4"/>
                <c:pt idx="0">
                  <c:v>Packer Machine</c:v>
                </c:pt>
                <c:pt idx="1">
                  <c:v>Dropping dari Packer ke Belt Conveyor</c:v>
                </c:pt>
                <c:pt idx="2">
                  <c:v>Transport Belt Conveyor Panjang</c:v>
                </c:pt>
                <c:pt idx="3">
                  <c:v>Di Truck</c:v>
                </c:pt>
              </c:strCache>
            </c:strRef>
          </c:cat>
          <c:val>
            <c:numRef>
              <c:f>Jun!$D$17:$G$17</c:f>
              <c:numCache>
                <c:formatCode>_(* #,##0_);_(* \(#,##0\);_(* "-"_);_(@_)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7D-40A7-9F6E-E9CA9CCDD7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7230280"/>
        <c:axId val="447236552"/>
      </c:barChart>
      <c:catAx>
        <c:axId val="447230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7236552"/>
        <c:crosses val="autoZero"/>
        <c:auto val="1"/>
        <c:lblAlgn val="ctr"/>
        <c:lblOffset val="100"/>
        <c:noMultiLvlLbl val="0"/>
      </c:catAx>
      <c:valAx>
        <c:axId val="447236552"/>
        <c:scaling>
          <c:orientation val="minMax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72302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b="1"/>
              <a:t>PP MALAHAYATI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Jun!$C$19</c:f>
              <c:strCache>
                <c:ptCount val="1"/>
                <c:pt idx="0">
                  <c:v>Mulut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Jun!$D$2:$G$2</c:f>
              <c:strCache>
                <c:ptCount val="4"/>
                <c:pt idx="0">
                  <c:v>Packer Machine</c:v>
                </c:pt>
                <c:pt idx="1">
                  <c:v>Dropping dari Packer ke Belt Conveyor</c:v>
                </c:pt>
                <c:pt idx="2">
                  <c:v>Transport Belt Conveyor Panjang</c:v>
                </c:pt>
                <c:pt idx="3">
                  <c:v>Di Truck</c:v>
                </c:pt>
              </c:strCache>
            </c:strRef>
          </c:cat>
          <c:val>
            <c:numRef>
              <c:f>Jun!$D$19:$G$19</c:f>
              <c:numCache>
                <c:formatCode>_(* #,##0_);_(* \(#,##0\);_(* "-"_);_(@_)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71BF-44B0-846B-3BF345231B2F}"/>
            </c:ext>
          </c:extLst>
        </c:ser>
        <c:ser>
          <c:idx val="1"/>
          <c:order val="1"/>
          <c:tx>
            <c:strRef>
              <c:f>Jun!$C$20</c:f>
              <c:strCache>
                <c:ptCount val="1"/>
                <c:pt idx="0">
                  <c:v>Lem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Jun!$D$2:$G$2</c:f>
              <c:strCache>
                <c:ptCount val="4"/>
                <c:pt idx="0">
                  <c:v>Packer Machine</c:v>
                </c:pt>
                <c:pt idx="1">
                  <c:v>Dropping dari Packer ke Belt Conveyor</c:v>
                </c:pt>
                <c:pt idx="2">
                  <c:v>Transport Belt Conveyor Panjang</c:v>
                </c:pt>
                <c:pt idx="3">
                  <c:v>Di Truck</c:v>
                </c:pt>
              </c:strCache>
            </c:strRef>
          </c:cat>
          <c:val>
            <c:numRef>
              <c:f>Jun!$D$20:$G$20</c:f>
              <c:numCache>
                <c:formatCode>_(* #,##0_);_(* \(#,##0\);_(* "-"_);_(@_)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71BF-44B0-846B-3BF345231B2F}"/>
            </c:ext>
          </c:extLst>
        </c:ser>
        <c:ser>
          <c:idx val="2"/>
          <c:order val="2"/>
          <c:tx>
            <c:strRef>
              <c:f>Jun!$C$21</c:f>
              <c:strCache>
                <c:ptCount val="1"/>
                <c:pt idx="0">
                  <c:v>Body Kantong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Jun!$D$2:$G$2</c:f>
              <c:strCache>
                <c:ptCount val="4"/>
                <c:pt idx="0">
                  <c:v>Packer Machine</c:v>
                </c:pt>
                <c:pt idx="1">
                  <c:v>Dropping dari Packer ke Belt Conveyor</c:v>
                </c:pt>
                <c:pt idx="2">
                  <c:v>Transport Belt Conveyor Panjang</c:v>
                </c:pt>
                <c:pt idx="3">
                  <c:v>Di Truck</c:v>
                </c:pt>
              </c:strCache>
            </c:strRef>
          </c:cat>
          <c:val>
            <c:numRef>
              <c:f>Jun!$D$21:$G$21</c:f>
              <c:numCache>
                <c:formatCode>_(* #,##0_);_(* \(#,##0\);_(* "-"_);_(@_)</c:formatCode>
                <c:ptCount val="4"/>
                <c:pt idx="0">
                  <c:v>23</c:v>
                </c:pt>
                <c:pt idx="1">
                  <c:v>0</c:v>
                </c:pt>
                <c:pt idx="2">
                  <c:v>5</c:v>
                </c:pt>
                <c:pt idx="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BF-44B0-846B-3BF345231B2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47231456"/>
        <c:axId val="447239688"/>
      </c:barChart>
      <c:catAx>
        <c:axId val="447231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7239688"/>
        <c:crosses val="autoZero"/>
        <c:auto val="1"/>
        <c:lblAlgn val="ctr"/>
        <c:lblOffset val="100"/>
        <c:noMultiLvlLbl val="0"/>
      </c:catAx>
      <c:valAx>
        <c:axId val="447239688"/>
        <c:scaling>
          <c:orientation val="minMax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723145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7.sv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6556" y="2103437"/>
            <a:ext cx="5691382" cy="1511301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 LT Std 73 Bold E" panose="020B0807040502030204" pitchFamily="34" charset="77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66556" y="3836460"/>
            <a:ext cx="4549775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Proxima Nova" panose="02000506030000020004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81601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20629" y="562512"/>
            <a:ext cx="50736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b="1" i="0">
                <a:solidFill>
                  <a:srgbClr val="FF0000"/>
                </a:solidFill>
                <a:latin typeface="Helvetica Neue LT Std 73 Bold E" panose="020B0807040502030204" pitchFamily="34" charset="77"/>
              </a:defRPr>
            </a:lvl1pPr>
          </a:lstStyle>
          <a:p>
            <a:endParaRPr lang="en-US" altLang="en-US" dirty="0"/>
          </a:p>
        </p:txBody>
      </p:sp>
      <p:sp>
        <p:nvSpPr>
          <p:cNvPr id="8" name="Text Placeholder 2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284288" y="1792849"/>
            <a:ext cx="9809991" cy="374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Proxima Nova" panose="02000506030000020004" pitchFamily="2" charset="77"/>
              </a:defRPr>
            </a:lvl1pPr>
          </a:lstStyle>
          <a:p>
            <a:endParaRPr lang="en-US" altLang="en-US" dirty="0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713" y="95787"/>
            <a:ext cx="2857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5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as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412866"/>
            <a:ext cx="5857741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02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23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020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6B89F-58B3-5641-968A-206AF1110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F66C3-7192-B24E-A757-737C587F5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EA3DC-191D-AFA2-4CE8-DA8CF04F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4BADC-778F-4DE2-BE6F-3355FBC9F7C5}" type="datetimeFigureOut">
              <a:rPr lang="en-ID" smtClean="0"/>
              <a:t>07/07/2025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5BA26-B92D-5CB8-BA42-BAAB5C68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B1002-C4BC-308B-DC7A-2093F1A1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C9401-1010-4796-8A32-EA787561997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6354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6556" y="2103437"/>
            <a:ext cx="5691382" cy="1511301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 LT Std 73 Bold E" panose="020B0807040502030204" pitchFamily="34" charset="77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66556" y="3836460"/>
            <a:ext cx="4549775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Proxima Nova" panose="02000506030000020004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7919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20629" y="562512"/>
            <a:ext cx="50736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b="1" i="0">
                <a:solidFill>
                  <a:srgbClr val="FF0000"/>
                </a:solidFill>
                <a:latin typeface="Helvetica Neue LT Std 73 Bold E" panose="020B0807040502030204" pitchFamily="34" charset="77"/>
              </a:defRPr>
            </a:lvl1pPr>
          </a:lstStyle>
          <a:p>
            <a:endParaRPr lang="en-US" altLang="en-US" dirty="0"/>
          </a:p>
        </p:txBody>
      </p:sp>
      <p:sp>
        <p:nvSpPr>
          <p:cNvPr id="8" name="Text Placeholder 2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284288" y="1792849"/>
            <a:ext cx="9809991" cy="374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Proxima Nova" panose="02000506030000020004" pitchFamily="2" charset="77"/>
              </a:defRPr>
            </a:lvl1pPr>
          </a:lstStyle>
          <a:p>
            <a:endParaRPr lang="en-US" altLang="en-US" dirty="0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713" y="95787"/>
            <a:ext cx="2857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as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412866"/>
            <a:ext cx="5857741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857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1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6556" y="2103437"/>
            <a:ext cx="5691382" cy="1511301"/>
          </a:xfrm>
          <a:prstGeom prst="rect">
            <a:avLst/>
          </a:prstGeom>
        </p:spPr>
        <p:txBody>
          <a:bodyPr/>
          <a:lstStyle>
            <a:lvl1pPr>
              <a:defRPr sz="4800" b="0">
                <a:solidFill>
                  <a:schemeClr val="tx1"/>
                </a:solidFill>
                <a:latin typeface="Helvetica Neue LT Std 73 Bold E" panose="020B0807040502030204" pitchFamily="34" charset="77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3540369" y="539263"/>
            <a:ext cx="8651631" cy="6318737"/>
          </a:xfrm>
          <a:custGeom>
            <a:avLst/>
            <a:gdLst>
              <a:gd name="connsiteX0" fmla="*/ 0 w 8591552"/>
              <a:gd name="connsiteY0" fmla="*/ 0 h 6215063"/>
              <a:gd name="connsiteX1" fmla="*/ 8591552 w 8591552"/>
              <a:gd name="connsiteY1" fmla="*/ 0 h 6215063"/>
              <a:gd name="connsiteX2" fmla="*/ 8591552 w 8591552"/>
              <a:gd name="connsiteY2" fmla="*/ 6215063 h 6215063"/>
              <a:gd name="connsiteX3" fmla="*/ 0 w 8591552"/>
              <a:gd name="connsiteY3" fmla="*/ 6215063 h 6215063"/>
              <a:gd name="connsiteX4" fmla="*/ 0 w 8591552"/>
              <a:gd name="connsiteY4" fmla="*/ 0 h 6215063"/>
              <a:gd name="connsiteX0-1" fmla="*/ 6185647 w 8591552"/>
              <a:gd name="connsiteY0-2" fmla="*/ 43030 h 6215063"/>
              <a:gd name="connsiteX1-3" fmla="*/ 8591552 w 8591552"/>
              <a:gd name="connsiteY1-4" fmla="*/ 0 h 6215063"/>
              <a:gd name="connsiteX2-5" fmla="*/ 8591552 w 8591552"/>
              <a:gd name="connsiteY2-6" fmla="*/ 6215063 h 6215063"/>
              <a:gd name="connsiteX3-7" fmla="*/ 0 w 8591552"/>
              <a:gd name="connsiteY3-8" fmla="*/ 6215063 h 6215063"/>
              <a:gd name="connsiteX4-9" fmla="*/ 6185647 w 8591552"/>
              <a:gd name="connsiteY4-10" fmla="*/ 43030 h 6215063"/>
              <a:gd name="connsiteX0-11" fmla="*/ 6185647 w 8645340"/>
              <a:gd name="connsiteY0-12" fmla="*/ 0 h 6172033"/>
              <a:gd name="connsiteX1-13" fmla="*/ 8645340 w 8645340"/>
              <a:gd name="connsiteY1-14" fmla="*/ 2388198 h 6172033"/>
              <a:gd name="connsiteX2-15" fmla="*/ 8591552 w 8645340"/>
              <a:gd name="connsiteY2-16" fmla="*/ 6172033 h 6172033"/>
              <a:gd name="connsiteX3-17" fmla="*/ 0 w 8645340"/>
              <a:gd name="connsiteY3-18" fmla="*/ 6172033 h 6172033"/>
              <a:gd name="connsiteX4-19" fmla="*/ 6185647 w 8645340"/>
              <a:gd name="connsiteY4-20" fmla="*/ 0 h 6172033"/>
              <a:gd name="connsiteX0-21" fmla="*/ 6185647 w 8602309"/>
              <a:gd name="connsiteY0-22" fmla="*/ 0 h 6172033"/>
              <a:gd name="connsiteX1-23" fmla="*/ 8602309 w 8602309"/>
              <a:gd name="connsiteY1-24" fmla="*/ 2377440 h 6172033"/>
              <a:gd name="connsiteX2-25" fmla="*/ 8591552 w 8602309"/>
              <a:gd name="connsiteY2-26" fmla="*/ 6172033 h 6172033"/>
              <a:gd name="connsiteX3-27" fmla="*/ 0 w 8602309"/>
              <a:gd name="connsiteY3-28" fmla="*/ 6172033 h 6172033"/>
              <a:gd name="connsiteX4-29" fmla="*/ 6185647 w 8602309"/>
              <a:gd name="connsiteY4-30" fmla="*/ 0 h 6172033"/>
              <a:gd name="connsiteX0-31" fmla="*/ 6185647 w 8602309"/>
              <a:gd name="connsiteY0-32" fmla="*/ 0 h 6198928"/>
              <a:gd name="connsiteX1-33" fmla="*/ 8602309 w 8602309"/>
              <a:gd name="connsiteY1-34" fmla="*/ 2377440 h 6198928"/>
              <a:gd name="connsiteX2-35" fmla="*/ 8591552 w 8602309"/>
              <a:gd name="connsiteY2-36" fmla="*/ 6172033 h 6198928"/>
              <a:gd name="connsiteX3-37" fmla="*/ 8534178 w 8602309"/>
              <a:gd name="connsiteY3-38" fmla="*/ 6198928 h 6198928"/>
              <a:gd name="connsiteX4-39" fmla="*/ 0 w 8602309"/>
              <a:gd name="connsiteY4-40" fmla="*/ 6172033 h 6198928"/>
              <a:gd name="connsiteX5" fmla="*/ 6185647 w 8602309"/>
              <a:gd name="connsiteY5" fmla="*/ 0 h 6198928"/>
              <a:gd name="connsiteX0-41" fmla="*/ 6185647 w 8602309"/>
              <a:gd name="connsiteY0-42" fmla="*/ 0 h 6172033"/>
              <a:gd name="connsiteX1-43" fmla="*/ 8602309 w 8602309"/>
              <a:gd name="connsiteY1-44" fmla="*/ 2377440 h 6172033"/>
              <a:gd name="connsiteX2-45" fmla="*/ 8591552 w 8602309"/>
              <a:gd name="connsiteY2-46" fmla="*/ 6172033 h 6172033"/>
              <a:gd name="connsiteX3-47" fmla="*/ 7436898 w 8602309"/>
              <a:gd name="connsiteY3-48" fmla="*/ 5413620 h 6172033"/>
              <a:gd name="connsiteX4-49" fmla="*/ 0 w 8602309"/>
              <a:gd name="connsiteY4-50" fmla="*/ 6172033 h 6172033"/>
              <a:gd name="connsiteX5-51" fmla="*/ 6185647 w 8602309"/>
              <a:gd name="connsiteY5-52" fmla="*/ 0 h 6172033"/>
              <a:gd name="connsiteX0-53" fmla="*/ 6185647 w 8602309"/>
              <a:gd name="connsiteY0-54" fmla="*/ 0 h 6172033"/>
              <a:gd name="connsiteX1-55" fmla="*/ 8602309 w 8602309"/>
              <a:gd name="connsiteY1-56" fmla="*/ 2377440 h 6172033"/>
              <a:gd name="connsiteX2-57" fmla="*/ 8591552 w 8602309"/>
              <a:gd name="connsiteY2-58" fmla="*/ 6172033 h 6172033"/>
              <a:gd name="connsiteX3-59" fmla="*/ 7436898 w 8602309"/>
              <a:gd name="connsiteY3-60" fmla="*/ 5413620 h 6172033"/>
              <a:gd name="connsiteX4-61" fmla="*/ 7275533 w 8602309"/>
              <a:gd name="connsiteY4-62" fmla="*/ 5424378 h 6172033"/>
              <a:gd name="connsiteX5-63" fmla="*/ 0 w 8602309"/>
              <a:gd name="connsiteY5-64" fmla="*/ 6172033 h 6172033"/>
              <a:gd name="connsiteX6" fmla="*/ 6185647 w 8602309"/>
              <a:gd name="connsiteY6" fmla="*/ 0 h 6172033"/>
              <a:gd name="connsiteX0-65" fmla="*/ 6185647 w 8602309"/>
              <a:gd name="connsiteY0-66" fmla="*/ 0 h 6172033"/>
              <a:gd name="connsiteX1-67" fmla="*/ 8602309 w 8602309"/>
              <a:gd name="connsiteY1-68" fmla="*/ 2377440 h 6172033"/>
              <a:gd name="connsiteX2-69" fmla="*/ 8591552 w 8602309"/>
              <a:gd name="connsiteY2-70" fmla="*/ 6172033 h 6172033"/>
              <a:gd name="connsiteX3-71" fmla="*/ 7436898 w 8602309"/>
              <a:gd name="connsiteY3-72" fmla="*/ 5413620 h 6172033"/>
              <a:gd name="connsiteX4-73" fmla="*/ 7275533 w 8602309"/>
              <a:gd name="connsiteY4-74" fmla="*/ 5424378 h 6172033"/>
              <a:gd name="connsiteX5-75" fmla="*/ 4188088 w 8602309"/>
              <a:gd name="connsiteY5-76" fmla="*/ 5757865 h 6172033"/>
              <a:gd name="connsiteX6-77" fmla="*/ 0 w 8602309"/>
              <a:gd name="connsiteY6-78" fmla="*/ 6172033 h 6172033"/>
              <a:gd name="connsiteX7" fmla="*/ 6185647 w 8602309"/>
              <a:gd name="connsiteY7" fmla="*/ 0 h 6172033"/>
              <a:gd name="connsiteX0-79" fmla="*/ 6185647 w 8602309"/>
              <a:gd name="connsiteY0-80" fmla="*/ 0 h 6172033"/>
              <a:gd name="connsiteX1-81" fmla="*/ 8602309 w 8602309"/>
              <a:gd name="connsiteY1-82" fmla="*/ 2377440 h 6172033"/>
              <a:gd name="connsiteX2-83" fmla="*/ 8591552 w 8602309"/>
              <a:gd name="connsiteY2-84" fmla="*/ 6172033 h 6172033"/>
              <a:gd name="connsiteX3-85" fmla="*/ 7436898 w 8602309"/>
              <a:gd name="connsiteY3-86" fmla="*/ 5413620 h 6172033"/>
              <a:gd name="connsiteX4-87" fmla="*/ 7275533 w 8602309"/>
              <a:gd name="connsiteY4-88" fmla="*/ 5424378 h 6172033"/>
              <a:gd name="connsiteX5-89" fmla="*/ 3693236 w 8602309"/>
              <a:gd name="connsiteY5-90" fmla="*/ 6166656 h 6172033"/>
              <a:gd name="connsiteX6-91" fmla="*/ 0 w 8602309"/>
              <a:gd name="connsiteY6-92" fmla="*/ 6172033 h 6172033"/>
              <a:gd name="connsiteX7-93" fmla="*/ 6185647 w 8602309"/>
              <a:gd name="connsiteY7-94" fmla="*/ 0 h 6172033"/>
              <a:gd name="connsiteX0-95" fmla="*/ 6185647 w 8602309"/>
              <a:gd name="connsiteY0-96" fmla="*/ 0 h 6172033"/>
              <a:gd name="connsiteX1-97" fmla="*/ 8602309 w 8602309"/>
              <a:gd name="connsiteY1-98" fmla="*/ 2377440 h 6172033"/>
              <a:gd name="connsiteX2-99" fmla="*/ 8591552 w 8602309"/>
              <a:gd name="connsiteY2-100" fmla="*/ 6172033 h 6172033"/>
              <a:gd name="connsiteX3-101" fmla="*/ 7436898 w 8602309"/>
              <a:gd name="connsiteY3-102" fmla="*/ 5413620 h 6172033"/>
              <a:gd name="connsiteX4-103" fmla="*/ 5877039 w 8602309"/>
              <a:gd name="connsiteY4-104" fmla="*/ 3939823 h 6172033"/>
              <a:gd name="connsiteX5-105" fmla="*/ 3693236 w 8602309"/>
              <a:gd name="connsiteY5-106" fmla="*/ 6166656 h 6172033"/>
              <a:gd name="connsiteX6-107" fmla="*/ 0 w 8602309"/>
              <a:gd name="connsiteY6-108" fmla="*/ 6172033 h 6172033"/>
              <a:gd name="connsiteX7-109" fmla="*/ 6185647 w 8602309"/>
              <a:gd name="connsiteY7-110" fmla="*/ 0 h 6172033"/>
              <a:gd name="connsiteX0-111" fmla="*/ 6185647 w 8602309"/>
              <a:gd name="connsiteY0-112" fmla="*/ 0 h 6172033"/>
              <a:gd name="connsiteX1-113" fmla="*/ 8602309 w 8602309"/>
              <a:gd name="connsiteY1-114" fmla="*/ 2377440 h 6172033"/>
              <a:gd name="connsiteX2-115" fmla="*/ 8591552 w 8602309"/>
              <a:gd name="connsiteY2-116" fmla="*/ 6172033 h 6172033"/>
              <a:gd name="connsiteX3-117" fmla="*/ 6597801 w 8602309"/>
              <a:gd name="connsiteY3-118" fmla="*/ 3982853 h 6172033"/>
              <a:gd name="connsiteX4-119" fmla="*/ 5877039 w 8602309"/>
              <a:gd name="connsiteY4-120" fmla="*/ 3939823 h 6172033"/>
              <a:gd name="connsiteX5-121" fmla="*/ 3693236 w 8602309"/>
              <a:gd name="connsiteY5-122" fmla="*/ 6166656 h 6172033"/>
              <a:gd name="connsiteX6-123" fmla="*/ 0 w 8602309"/>
              <a:gd name="connsiteY6-124" fmla="*/ 6172033 h 6172033"/>
              <a:gd name="connsiteX7-125" fmla="*/ 6185647 w 8602309"/>
              <a:gd name="connsiteY7-126" fmla="*/ 0 h 6172033"/>
              <a:gd name="connsiteX0-127" fmla="*/ 6185647 w 8603344"/>
              <a:gd name="connsiteY0-128" fmla="*/ 0 h 6172033"/>
              <a:gd name="connsiteX1-129" fmla="*/ 8602309 w 8603344"/>
              <a:gd name="connsiteY1-130" fmla="*/ 2377440 h 6172033"/>
              <a:gd name="connsiteX2-131" fmla="*/ 8602309 w 8603344"/>
              <a:gd name="connsiteY2-132" fmla="*/ 6053699 h 6172033"/>
              <a:gd name="connsiteX3-133" fmla="*/ 6597801 w 8603344"/>
              <a:gd name="connsiteY3-134" fmla="*/ 3982853 h 6172033"/>
              <a:gd name="connsiteX4-135" fmla="*/ 5877039 w 8603344"/>
              <a:gd name="connsiteY4-136" fmla="*/ 3939823 h 6172033"/>
              <a:gd name="connsiteX5-137" fmla="*/ 3693236 w 8603344"/>
              <a:gd name="connsiteY5-138" fmla="*/ 6166656 h 6172033"/>
              <a:gd name="connsiteX6-139" fmla="*/ 0 w 8603344"/>
              <a:gd name="connsiteY6-140" fmla="*/ 6172033 h 6172033"/>
              <a:gd name="connsiteX7-141" fmla="*/ 6185647 w 8603344"/>
              <a:gd name="connsiteY7-142" fmla="*/ 0 h 6172033"/>
              <a:gd name="connsiteX0-143" fmla="*/ 6185647 w 8603344"/>
              <a:gd name="connsiteY0-144" fmla="*/ 0 h 6172033"/>
              <a:gd name="connsiteX1-145" fmla="*/ 8602309 w 8603344"/>
              <a:gd name="connsiteY1-146" fmla="*/ 2377440 h 6172033"/>
              <a:gd name="connsiteX2-147" fmla="*/ 8602309 w 8603344"/>
              <a:gd name="connsiteY2-148" fmla="*/ 6053699 h 6172033"/>
              <a:gd name="connsiteX3-149" fmla="*/ 6554770 w 8603344"/>
              <a:gd name="connsiteY3-150" fmla="*/ 3939823 h 6172033"/>
              <a:gd name="connsiteX4-151" fmla="*/ 5877039 w 8603344"/>
              <a:gd name="connsiteY4-152" fmla="*/ 3939823 h 6172033"/>
              <a:gd name="connsiteX5-153" fmla="*/ 3693236 w 8603344"/>
              <a:gd name="connsiteY5-154" fmla="*/ 6166656 h 6172033"/>
              <a:gd name="connsiteX6-155" fmla="*/ 0 w 8603344"/>
              <a:gd name="connsiteY6-156" fmla="*/ 6172033 h 6172033"/>
              <a:gd name="connsiteX7-157" fmla="*/ 6185647 w 8603344"/>
              <a:gd name="connsiteY7-158" fmla="*/ 0 h 6172033"/>
              <a:gd name="connsiteX0-159" fmla="*/ 6185647 w 8603344"/>
              <a:gd name="connsiteY0-160" fmla="*/ 0 h 6172033"/>
              <a:gd name="connsiteX1-161" fmla="*/ 8602309 w 8603344"/>
              <a:gd name="connsiteY1-162" fmla="*/ 2377440 h 6172033"/>
              <a:gd name="connsiteX2-163" fmla="*/ 8602309 w 8603344"/>
              <a:gd name="connsiteY2-164" fmla="*/ 6053699 h 6172033"/>
              <a:gd name="connsiteX3-165" fmla="*/ 6554770 w 8603344"/>
              <a:gd name="connsiteY3-166" fmla="*/ 3939823 h 6172033"/>
              <a:gd name="connsiteX4-167" fmla="*/ 5844766 w 8603344"/>
              <a:gd name="connsiteY4-168" fmla="*/ 3961339 h 6172033"/>
              <a:gd name="connsiteX5-169" fmla="*/ 3693236 w 8603344"/>
              <a:gd name="connsiteY5-170" fmla="*/ 6166656 h 6172033"/>
              <a:gd name="connsiteX6-171" fmla="*/ 0 w 8603344"/>
              <a:gd name="connsiteY6-172" fmla="*/ 6172033 h 6172033"/>
              <a:gd name="connsiteX7-173" fmla="*/ 6185647 w 8603344"/>
              <a:gd name="connsiteY7-174" fmla="*/ 0 h 6172033"/>
              <a:gd name="connsiteX0-175" fmla="*/ 6185647 w 8603344"/>
              <a:gd name="connsiteY0-176" fmla="*/ 0 h 6172033"/>
              <a:gd name="connsiteX1-177" fmla="*/ 8602309 w 8603344"/>
              <a:gd name="connsiteY1-178" fmla="*/ 2377440 h 6172033"/>
              <a:gd name="connsiteX2-179" fmla="*/ 8602309 w 8603344"/>
              <a:gd name="connsiteY2-180" fmla="*/ 6053699 h 6172033"/>
              <a:gd name="connsiteX3-181" fmla="*/ 6554770 w 8603344"/>
              <a:gd name="connsiteY3-182" fmla="*/ 3939823 h 6172033"/>
              <a:gd name="connsiteX4-183" fmla="*/ 5844766 w 8603344"/>
              <a:gd name="connsiteY4-184" fmla="*/ 3961339 h 6172033"/>
              <a:gd name="connsiteX5-185" fmla="*/ 3693236 w 8603344"/>
              <a:gd name="connsiteY5-186" fmla="*/ 6166656 h 6172033"/>
              <a:gd name="connsiteX6-187" fmla="*/ 0 w 8603344"/>
              <a:gd name="connsiteY6-188" fmla="*/ 6172033 h 6172033"/>
              <a:gd name="connsiteX7-189" fmla="*/ 6185647 w 8603344"/>
              <a:gd name="connsiteY7-190" fmla="*/ 0 h 6172033"/>
              <a:gd name="connsiteX0-191" fmla="*/ 6185647 w 8603344"/>
              <a:gd name="connsiteY0-192" fmla="*/ 0 h 6172033"/>
              <a:gd name="connsiteX1-193" fmla="*/ 8602309 w 8603344"/>
              <a:gd name="connsiteY1-194" fmla="*/ 2377440 h 6172033"/>
              <a:gd name="connsiteX2-195" fmla="*/ 8602309 w 8603344"/>
              <a:gd name="connsiteY2-196" fmla="*/ 6053699 h 6172033"/>
              <a:gd name="connsiteX3-197" fmla="*/ 6554770 w 8603344"/>
              <a:gd name="connsiteY3-198" fmla="*/ 3939823 h 6172033"/>
              <a:gd name="connsiteX4-199" fmla="*/ 5844766 w 8603344"/>
              <a:gd name="connsiteY4-200" fmla="*/ 3961339 h 6172033"/>
              <a:gd name="connsiteX5-201" fmla="*/ 3693236 w 8603344"/>
              <a:gd name="connsiteY5-202" fmla="*/ 6166656 h 6172033"/>
              <a:gd name="connsiteX6-203" fmla="*/ 0 w 8603344"/>
              <a:gd name="connsiteY6-204" fmla="*/ 6172033 h 6172033"/>
              <a:gd name="connsiteX7-205" fmla="*/ 6185647 w 8603344"/>
              <a:gd name="connsiteY7-206" fmla="*/ 0 h 6172033"/>
              <a:gd name="connsiteX0-207" fmla="*/ 6185647 w 8603344"/>
              <a:gd name="connsiteY0-208" fmla="*/ 0 h 6172033"/>
              <a:gd name="connsiteX1-209" fmla="*/ 8602309 w 8603344"/>
              <a:gd name="connsiteY1-210" fmla="*/ 2377440 h 6172033"/>
              <a:gd name="connsiteX2-211" fmla="*/ 8602309 w 8603344"/>
              <a:gd name="connsiteY2-212" fmla="*/ 6053699 h 6172033"/>
              <a:gd name="connsiteX3-213" fmla="*/ 6554770 w 8603344"/>
              <a:gd name="connsiteY3-214" fmla="*/ 3939823 h 6172033"/>
              <a:gd name="connsiteX4-215" fmla="*/ 5844766 w 8603344"/>
              <a:gd name="connsiteY4-216" fmla="*/ 3961339 h 6172033"/>
              <a:gd name="connsiteX5-217" fmla="*/ 3693236 w 8603344"/>
              <a:gd name="connsiteY5-218" fmla="*/ 6166656 h 6172033"/>
              <a:gd name="connsiteX6-219" fmla="*/ 0 w 8603344"/>
              <a:gd name="connsiteY6-220" fmla="*/ 6172033 h 6172033"/>
              <a:gd name="connsiteX7-221" fmla="*/ 6185647 w 8603344"/>
              <a:gd name="connsiteY7-222" fmla="*/ 0 h 61720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51" y="connsiteY5-52"/>
              </a:cxn>
              <a:cxn ang="0">
                <a:pos x="connsiteX6-77" y="connsiteY6-78"/>
              </a:cxn>
              <a:cxn ang="0">
                <a:pos x="connsiteX7-93" y="connsiteY7-94"/>
              </a:cxn>
            </a:cxnLst>
            <a:rect l="l" t="t" r="r" b="b"/>
            <a:pathLst>
              <a:path w="8603344" h="6172033">
                <a:moveTo>
                  <a:pt x="6185647" y="0"/>
                </a:moveTo>
                <a:lnTo>
                  <a:pt x="8602309" y="2377440"/>
                </a:lnTo>
                <a:cubicBezTo>
                  <a:pt x="8598723" y="3642304"/>
                  <a:pt x="8605895" y="4788835"/>
                  <a:pt x="8602309" y="6053699"/>
                </a:cubicBezTo>
                <a:lnTo>
                  <a:pt x="6554770" y="3939823"/>
                </a:lnTo>
                <a:cubicBezTo>
                  <a:pt x="6285829" y="3721085"/>
                  <a:pt x="6049161" y="3771287"/>
                  <a:pt x="5844766" y="3961339"/>
                </a:cubicBezTo>
                <a:lnTo>
                  <a:pt x="3693236" y="6166656"/>
                </a:lnTo>
                <a:lnTo>
                  <a:pt x="0" y="6172033"/>
                </a:lnTo>
                <a:lnTo>
                  <a:pt x="6185647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66556" y="3698631"/>
            <a:ext cx="5691382" cy="5882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Proxima Nova" panose="02000506030000020004" pitchFamily="2" charset="77"/>
              </a:defRPr>
            </a:lvl1pPr>
          </a:lstStyle>
          <a:p>
            <a:r>
              <a:rPr lang="en-US" sz="2800" b="1" dirty="0">
                <a:solidFill>
                  <a:schemeClr val="tx1"/>
                </a:solidFill>
              </a:rPr>
              <a:t>Click to edit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831850" y="5974773"/>
            <a:ext cx="2493963" cy="300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© Copyright | version</a:t>
            </a:r>
          </a:p>
        </p:txBody>
      </p:sp>
    </p:spTree>
    <p:extLst>
      <p:ext uri="{BB962C8B-B14F-4D97-AF65-F5344CB8AC3E}">
        <p14:creationId xmlns:p14="http://schemas.microsoft.com/office/powerpoint/2010/main" val="2888577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as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676400" y="2412866"/>
            <a:ext cx="5857741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itle 1"/>
          <p:cNvSpPr txBox="1"/>
          <p:nvPr userDrawn="1"/>
        </p:nvSpPr>
        <p:spPr>
          <a:xfrm>
            <a:off x="1676400" y="3891791"/>
            <a:ext cx="5587286" cy="358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r>
              <a:rPr lang="en-US" sz="2000" b="0"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514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849018" y="4343616"/>
            <a:ext cx="2493963" cy="3006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© Copyright | version</a:t>
            </a:r>
          </a:p>
        </p:txBody>
      </p:sp>
    </p:spTree>
    <p:extLst>
      <p:ext uri="{BB962C8B-B14F-4D97-AF65-F5344CB8AC3E}">
        <p14:creationId xmlns:p14="http://schemas.microsoft.com/office/powerpoint/2010/main" val="1273669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96000" y="354013"/>
            <a:ext cx="50736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b="1" i="0">
                <a:solidFill>
                  <a:srgbClr val="FF0000"/>
                </a:solidFill>
                <a:latin typeface="Proxima Nova" panose="02000506030000020004" pitchFamily="2" charset="77"/>
              </a:defRPr>
            </a:lvl1pPr>
          </a:lstStyle>
          <a:p>
            <a:endParaRPr lang="en-US" altLang="en-US" dirty="0"/>
          </a:p>
        </p:txBody>
      </p:sp>
      <p:sp>
        <p:nvSpPr>
          <p:cNvPr id="8" name="Text Placeholder 2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346201" y="1598613"/>
            <a:ext cx="9823450" cy="259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endParaRPr lang="en-US" altLang="en-US" dirty="0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713" y="95787"/>
            <a:ext cx="2857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43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6556" y="2103437"/>
            <a:ext cx="5691382" cy="1511301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 LT Std 73 Bold E" panose="020B0807040502030204" pitchFamily="34" charset="77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66556" y="3836460"/>
            <a:ext cx="4549775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Proxima Nova" panose="02000506030000020004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20147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20629" y="562512"/>
            <a:ext cx="50736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b="1" i="0">
                <a:solidFill>
                  <a:srgbClr val="FF0000"/>
                </a:solidFill>
                <a:latin typeface="Helvetica Neue LT Std 73 Bold E" panose="020B0807040502030204" pitchFamily="34" charset="77"/>
              </a:defRPr>
            </a:lvl1pPr>
          </a:lstStyle>
          <a:p>
            <a:endParaRPr lang="en-US" altLang="en-US" dirty="0"/>
          </a:p>
        </p:txBody>
      </p:sp>
      <p:sp>
        <p:nvSpPr>
          <p:cNvPr id="8" name="Text Placeholder 2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284288" y="1792849"/>
            <a:ext cx="9809991" cy="374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Proxima Nova" panose="02000506030000020004" pitchFamily="2" charset="77"/>
              </a:defRPr>
            </a:lvl1pPr>
          </a:lstStyle>
          <a:p>
            <a:endParaRPr lang="en-US" altLang="en-US" dirty="0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713" y="95787"/>
            <a:ext cx="2857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34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as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412866"/>
            <a:ext cx="5857741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3730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667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55616" y="1413916"/>
            <a:ext cx="2849326" cy="1325563"/>
          </a:xfrm>
          <a:prstGeom prst="rect">
            <a:avLst/>
          </a:prstGeom>
        </p:spPr>
        <p:txBody>
          <a:bodyPr/>
          <a:lstStyle>
            <a:lvl1pPr>
              <a:defRPr sz="3000" b="0" i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655763" y="3039533"/>
            <a:ext cx="7216775" cy="24971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1523133" y="322983"/>
            <a:ext cx="45720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Vertical Text Placeholder 19"/>
          <p:cNvSpPr>
            <a:spLocks noGrp="1"/>
          </p:cNvSpPr>
          <p:nvPr>
            <p:ph type="body" orient="vert" sz="quarter" idx="12"/>
          </p:nvPr>
        </p:nvSpPr>
        <p:spPr>
          <a:xfrm rot="10800000">
            <a:off x="728132" y="2739478"/>
            <a:ext cx="389466" cy="3762921"/>
          </a:xfrm>
          <a:prstGeom prst="rect">
            <a:avLst/>
          </a:prstGeom>
        </p:spPr>
        <p:txBody>
          <a:bodyPr vert="eaVert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46802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1523133" y="322983"/>
            <a:ext cx="45720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Vertical Text Placeholder 19"/>
          <p:cNvSpPr>
            <a:spLocks noGrp="1"/>
          </p:cNvSpPr>
          <p:nvPr>
            <p:ph type="body" orient="vert" sz="quarter" idx="12"/>
          </p:nvPr>
        </p:nvSpPr>
        <p:spPr>
          <a:xfrm rot="10800000">
            <a:off x="728132" y="2739478"/>
            <a:ext cx="389466" cy="3762921"/>
          </a:xfrm>
          <a:prstGeom prst="rect">
            <a:avLst/>
          </a:prstGeom>
        </p:spPr>
        <p:txBody>
          <a:bodyPr vert="eaVert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107400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496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96436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849018" y="4343616"/>
            <a:ext cx="2493963" cy="3006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© Copyright | version</a:t>
            </a:r>
          </a:p>
        </p:txBody>
      </p:sp>
    </p:spTree>
    <p:extLst>
      <p:ext uri="{BB962C8B-B14F-4D97-AF65-F5344CB8AC3E}">
        <p14:creationId xmlns:p14="http://schemas.microsoft.com/office/powerpoint/2010/main" val="4218838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1523133" y="322983"/>
            <a:ext cx="45720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Vertical Text Placeholder 19"/>
          <p:cNvSpPr>
            <a:spLocks noGrp="1"/>
          </p:cNvSpPr>
          <p:nvPr>
            <p:ph type="body" orient="vert" sz="quarter" idx="12"/>
          </p:nvPr>
        </p:nvSpPr>
        <p:spPr>
          <a:xfrm rot="10800000">
            <a:off x="728132" y="2739478"/>
            <a:ext cx="389466" cy="3762921"/>
          </a:xfrm>
          <a:prstGeom prst="rect">
            <a:avLst/>
          </a:prstGeom>
        </p:spPr>
        <p:txBody>
          <a:bodyPr vert="eaVert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4868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849018" y="4343616"/>
            <a:ext cx="2493963" cy="3006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© Copyright | version</a:t>
            </a:r>
          </a:p>
        </p:txBody>
      </p:sp>
    </p:spTree>
    <p:extLst>
      <p:ext uri="{BB962C8B-B14F-4D97-AF65-F5344CB8AC3E}">
        <p14:creationId xmlns:p14="http://schemas.microsoft.com/office/powerpoint/2010/main" val="1527070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6556" y="2103437"/>
            <a:ext cx="5691382" cy="1511301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 LT Std 73 Bold E" panose="020B0807040502030204" pitchFamily="34" charset="77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66556" y="3836460"/>
            <a:ext cx="4549775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Proxima Nova" panose="02000506030000020004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326109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20629" y="562512"/>
            <a:ext cx="50736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b="1" i="0">
                <a:solidFill>
                  <a:srgbClr val="FF0000"/>
                </a:solidFill>
                <a:latin typeface="Helvetica Neue LT Std 73 Bold E" panose="020B0807040502030204" pitchFamily="34" charset="77"/>
              </a:defRPr>
            </a:lvl1pPr>
          </a:lstStyle>
          <a:p>
            <a:endParaRPr lang="en-US" altLang="en-US" dirty="0"/>
          </a:p>
        </p:txBody>
      </p:sp>
      <p:sp>
        <p:nvSpPr>
          <p:cNvPr id="8" name="Text Placeholder 2"/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284288" y="1792849"/>
            <a:ext cx="9809991" cy="374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Proxima Nova" panose="02000506030000020004" pitchFamily="2" charset="77"/>
              </a:defRPr>
            </a:lvl1pPr>
          </a:lstStyle>
          <a:p>
            <a:endParaRPr lang="en-US" altLang="en-US" dirty="0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5713" y="95787"/>
            <a:ext cx="2857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88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mentas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412866"/>
            <a:ext cx="5857741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5895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1756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55616" y="1413916"/>
            <a:ext cx="2849326" cy="1325563"/>
          </a:xfrm>
          <a:prstGeom prst="rect">
            <a:avLst/>
          </a:prstGeom>
        </p:spPr>
        <p:txBody>
          <a:bodyPr/>
          <a:lstStyle>
            <a:lvl1pPr>
              <a:defRPr sz="3000" b="0" i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655763" y="3039533"/>
            <a:ext cx="7216775" cy="24971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1523133" y="322983"/>
            <a:ext cx="45720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Vertical Text Placeholder 19"/>
          <p:cNvSpPr>
            <a:spLocks noGrp="1"/>
          </p:cNvSpPr>
          <p:nvPr>
            <p:ph type="body" orient="vert" sz="quarter" idx="12"/>
          </p:nvPr>
        </p:nvSpPr>
        <p:spPr>
          <a:xfrm rot="10800000">
            <a:off x="728132" y="2739478"/>
            <a:ext cx="389466" cy="3762921"/>
          </a:xfrm>
          <a:prstGeom prst="rect">
            <a:avLst/>
          </a:prstGeom>
        </p:spPr>
        <p:txBody>
          <a:bodyPr vert="eaVert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511569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1523133" y="322983"/>
            <a:ext cx="45720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Vertical Text Placeholder 19"/>
          <p:cNvSpPr>
            <a:spLocks noGrp="1"/>
          </p:cNvSpPr>
          <p:nvPr>
            <p:ph type="body" orient="vert" sz="quarter" idx="12"/>
          </p:nvPr>
        </p:nvSpPr>
        <p:spPr>
          <a:xfrm rot="10800000">
            <a:off x="728132" y="2739478"/>
            <a:ext cx="389466" cy="3762921"/>
          </a:xfrm>
          <a:prstGeom prst="rect">
            <a:avLst/>
          </a:prstGeom>
        </p:spPr>
        <p:txBody>
          <a:bodyPr vert="eaVert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913117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135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1720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849018" y="4343616"/>
            <a:ext cx="2493963" cy="3006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© Copyright | version</a:t>
            </a:r>
          </a:p>
        </p:txBody>
      </p:sp>
    </p:spTree>
    <p:extLst>
      <p:ext uri="{BB962C8B-B14F-4D97-AF65-F5344CB8AC3E}">
        <p14:creationId xmlns:p14="http://schemas.microsoft.com/office/powerpoint/2010/main" val="13562076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1523133" y="322983"/>
            <a:ext cx="45720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Vertical Text Placeholder 19"/>
          <p:cNvSpPr>
            <a:spLocks noGrp="1"/>
          </p:cNvSpPr>
          <p:nvPr>
            <p:ph type="body" orient="vert" sz="quarter" idx="12"/>
          </p:nvPr>
        </p:nvSpPr>
        <p:spPr>
          <a:xfrm rot="10800000">
            <a:off x="728132" y="2739478"/>
            <a:ext cx="389466" cy="3762921"/>
          </a:xfrm>
          <a:prstGeom prst="rect">
            <a:avLst/>
          </a:prstGeom>
        </p:spPr>
        <p:txBody>
          <a:bodyPr vert="eaVert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584195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849018" y="4343616"/>
            <a:ext cx="2493963" cy="3006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© Copyright | version</a:t>
            </a:r>
          </a:p>
        </p:txBody>
      </p:sp>
    </p:spTree>
    <p:extLst>
      <p:ext uri="{BB962C8B-B14F-4D97-AF65-F5344CB8AC3E}">
        <p14:creationId xmlns:p14="http://schemas.microsoft.com/office/powerpoint/2010/main" val="1041119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83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70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Helvetica Neue LT Std 75" panose="020B04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4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Helvetica Neue LT Std 75" panose="020B04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46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Helvetica Neue LT Std 75" panose="020B04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99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Helvetica Neue LT Std 75" panose="020B04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54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Helvetica Neue LT Std 75" panose="020B0403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8DD1E9-6F38-6A7E-05F6-CCE7F8DA5A46}"/>
              </a:ext>
            </a:extLst>
          </p:cNvPr>
          <p:cNvSpPr txBox="1">
            <a:spLocks/>
          </p:cNvSpPr>
          <p:nvPr/>
        </p:nvSpPr>
        <p:spPr>
          <a:xfrm>
            <a:off x="1304290" y="155117"/>
            <a:ext cx="958342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pPr marL="26670" indent="-26670"/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Summary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Identifikasi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Kantong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Pecah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GH SCM Infra Mei 2025</a:t>
            </a:r>
            <a:endParaRPr lang="en-GB" altLang="en-US" sz="1400" b="0" dirty="0">
              <a:solidFill>
                <a:schemeClr val="tx1"/>
              </a:solidFill>
              <a:latin typeface="Proxima Nova" panose="02000506030000020004" pitchFamily="2" charset="77"/>
              <a:ea typeface="Helvetica Neue Light" panose="02000403000000020004" pitchFamily="2" charset="0"/>
              <a:cs typeface="Helvetica Neue" panose="02000503000000020004" pitchFamily="2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37061-254C-6BC2-CBF7-D9DC0A5E5FA8}"/>
              </a:ext>
            </a:extLst>
          </p:cNvPr>
          <p:cNvSpPr txBox="1"/>
          <p:nvPr/>
        </p:nvSpPr>
        <p:spPr>
          <a:xfrm>
            <a:off x="1304290" y="4647569"/>
            <a:ext cx="5529647" cy="9541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D" sz="1400" dirty="0">
                <a:solidFill>
                  <a:schemeClr val="bg1"/>
                </a:solidFill>
              </a:rPr>
              <a:t>Di GH SCM Infra,3  </a:t>
            </a:r>
            <a:r>
              <a:rPr lang="en-ID" sz="1400" dirty="0" err="1">
                <a:solidFill>
                  <a:schemeClr val="bg1"/>
                </a:solidFill>
              </a:rPr>
              <a:t>kantong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pecah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terbanyak</a:t>
            </a:r>
            <a:r>
              <a:rPr lang="en-ID" sz="1400" dirty="0">
                <a:solidFill>
                  <a:schemeClr val="bg1"/>
                </a:solidFill>
              </a:rPr>
              <a:t> </a:t>
            </a:r>
            <a:r>
              <a:rPr lang="en-ID" sz="1400" dirty="0" err="1">
                <a:solidFill>
                  <a:schemeClr val="bg1"/>
                </a:solidFill>
              </a:rPr>
              <a:t>ada</a:t>
            </a:r>
            <a:r>
              <a:rPr lang="en-ID" sz="1400" dirty="0">
                <a:solidFill>
                  <a:schemeClr val="bg1"/>
                </a:solidFill>
              </a:rPr>
              <a:t> di :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400" dirty="0">
                <a:solidFill>
                  <a:schemeClr val="bg1"/>
                </a:solidFill>
              </a:rPr>
              <a:t>PP </a:t>
            </a:r>
            <a:r>
              <a:rPr lang="en-ID" sz="1400" dirty="0" err="1">
                <a:solidFill>
                  <a:schemeClr val="bg1"/>
                </a:solidFill>
              </a:rPr>
              <a:t>Biringkassi</a:t>
            </a:r>
            <a:r>
              <a:rPr lang="en-ID" sz="1400" dirty="0">
                <a:solidFill>
                  <a:schemeClr val="bg1"/>
                </a:solidFill>
              </a:rPr>
              <a:t> - di packer machine dan transport belt conveyor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400" dirty="0">
                <a:solidFill>
                  <a:schemeClr val="bg1"/>
                </a:solidFill>
              </a:rPr>
              <a:t>PP </a:t>
            </a:r>
            <a:r>
              <a:rPr lang="en-ID" sz="1400" dirty="0" err="1">
                <a:solidFill>
                  <a:schemeClr val="bg1"/>
                </a:solidFill>
              </a:rPr>
              <a:t>Mamuju</a:t>
            </a:r>
            <a:r>
              <a:rPr lang="en-ID" sz="1400" dirty="0">
                <a:solidFill>
                  <a:schemeClr val="bg1"/>
                </a:solidFill>
              </a:rPr>
              <a:t> - di packer machine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400" dirty="0">
                <a:solidFill>
                  <a:schemeClr val="bg1"/>
                </a:solidFill>
              </a:rPr>
              <a:t>PP </a:t>
            </a:r>
            <a:r>
              <a:rPr lang="en-ID" sz="1400" dirty="0" err="1">
                <a:solidFill>
                  <a:schemeClr val="bg1"/>
                </a:solidFill>
              </a:rPr>
              <a:t>Malahayati</a:t>
            </a:r>
            <a:r>
              <a:rPr lang="en-ID" sz="1400" dirty="0">
                <a:solidFill>
                  <a:schemeClr val="bg1"/>
                </a:solidFill>
              </a:rPr>
              <a:t> - di truck dan di packer machine dan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35950B-D279-6BB1-A6A1-C9D34392E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90" y="1090308"/>
            <a:ext cx="10376079" cy="350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5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C294CF-2A1F-5C7C-96AF-EC0012ED9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852" y="3867298"/>
            <a:ext cx="5660284" cy="248701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28DD1E9-6F38-6A7E-05F6-CCE7F8DA5A46}"/>
              </a:ext>
            </a:extLst>
          </p:cNvPr>
          <p:cNvSpPr txBox="1">
            <a:spLocks/>
          </p:cNvSpPr>
          <p:nvPr/>
        </p:nvSpPr>
        <p:spPr>
          <a:xfrm>
            <a:off x="1304290" y="155117"/>
            <a:ext cx="958342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pPr marL="26670" indent="-26670"/>
            <a:r>
              <a:rPr lang="en-GB" altLang="en-US" dirty="0">
                <a:solidFill>
                  <a:srgbClr val="FF0000"/>
                </a:solidFill>
              </a:rPr>
              <a:t>5 Top </a:t>
            </a:r>
            <a:r>
              <a:rPr lang="en-GB" altLang="en-US" dirty="0" err="1">
                <a:solidFill>
                  <a:srgbClr val="FF0000"/>
                </a:solidFill>
              </a:rPr>
              <a:t>Identifikasi</a:t>
            </a:r>
            <a:r>
              <a:rPr lang="en-GB" altLang="en-US" dirty="0">
                <a:solidFill>
                  <a:srgbClr val="FF0000"/>
                </a:solidFill>
              </a:rPr>
              <a:t> Kantong </a:t>
            </a:r>
            <a:r>
              <a:rPr lang="en-GB" altLang="en-US" dirty="0" err="1">
                <a:solidFill>
                  <a:srgbClr val="FF0000"/>
                </a:solidFill>
              </a:rPr>
              <a:t>Pecah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GH SCM Infra Mei 2025</a:t>
            </a:r>
            <a:endParaRPr lang="en-GB" altLang="en-US" sz="1400" b="0" dirty="0">
              <a:solidFill>
                <a:schemeClr val="tx1"/>
              </a:solidFill>
              <a:latin typeface="Proxima Nova" panose="02000506030000020004" pitchFamily="2" charset="77"/>
              <a:ea typeface="Helvetica Neue Light" panose="02000403000000020004" pitchFamily="2" charset="0"/>
              <a:cs typeface="Helvetica Neue" panose="02000503000000020004" pitchFamily="2" charset="0"/>
              <a:sym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656BC9-42D0-CBB8-0FA2-E89FCA462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168" y="1077898"/>
            <a:ext cx="5026669" cy="2768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5355D6-36BC-6F54-F72B-44313EAD3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37" y="1077898"/>
            <a:ext cx="5314066" cy="27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4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B433A5-287A-1F76-7F46-D1CBEF93E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587" y="1749406"/>
            <a:ext cx="7504826" cy="3359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2D224EF-17DC-DD56-3CF6-09B5A160DD5E}"/>
              </a:ext>
            </a:extLst>
          </p:cNvPr>
          <p:cNvSpPr txBox="1">
            <a:spLocks/>
          </p:cNvSpPr>
          <p:nvPr/>
        </p:nvSpPr>
        <p:spPr>
          <a:xfrm>
            <a:off x="1304290" y="155117"/>
            <a:ext cx="1088771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pPr marL="26670" indent="-26670"/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Grafik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Trending – 3 TOP Kantong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Pecah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GH SCM Infra Januari </a:t>
            </a:r>
            <a:r>
              <a:rPr lang="en-GB" altLang="en-US" sz="2000" b="0" dirty="0" err="1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s.d</a:t>
            </a: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 Mei 2025</a:t>
            </a:r>
            <a:endParaRPr lang="en-GB" altLang="en-US" sz="1400" b="0" dirty="0">
              <a:solidFill>
                <a:schemeClr val="tx1"/>
              </a:solidFill>
              <a:latin typeface="Proxima Nova" panose="02000506030000020004" pitchFamily="2" charset="77"/>
              <a:ea typeface="Helvetica Neue Light" panose="02000403000000020004" pitchFamily="2" charset="0"/>
              <a:cs typeface="Helvetica Neue" panose="02000503000000020004" pitchFamily="2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991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BD3950-435F-818A-F1F7-7E86DEBF1E5F}"/>
              </a:ext>
            </a:extLst>
          </p:cNvPr>
          <p:cNvSpPr txBox="1"/>
          <p:nvPr/>
        </p:nvSpPr>
        <p:spPr>
          <a:xfrm>
            <a:off x="587829" y="2967335"/>
            <a:ext cx="759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dirty="0"/>
              <a:t>LAMPIRAN</a:t>
            </a:r>
          </a:p>
        </p:txBody>
      </p:sp>
    </p:spTree>
    <p:extLst>
      <p:ext uri="{BB962C8B-B14F-4D97-AF65-F5344CB8AC3E}">
        <p14:creationId xmlns:p14="http://schemas.microsoft.com/office/powerpoint/2010/main" val="898304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B510F3-6E38-749B-967F-4B5302BEE89A}"/>
              </a:ext>
            </a:extLst>
          </p:cNvPr>
          <p:cNvSpPr txBox="1">
            <a:spLocks/>
          </p:cNvSpPr>
          <p:nvPr/>
        </p:nvSpPr>
        <p:spPr>
          <a:xfrm>
            <a:off x="1304290" y="155117"/>
            <a:ext cx="958342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pPr marL="26670" indent="-26670"/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Identifikasi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Kantong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Pecah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GH SCM Infra Mei 2025</a:t>
            </a:r>
            <a:endParaRPr lang="en-GB" altLang="en-US" sz="1400" b="0" dirty="0">
              <a:solidFill>
                <a:schemeClr val="tx1"/>
              </a:solidFill>
              <a:latin typeface="Proxima Nova" panose="02000506030000020004" pitchFamily="2" charset="77"/>
              <a:ea typeface="Helvetica Neue Light" panose="02000403000000020004" pitchFamily="2" charset="0"/>
              <a:cs typeface="Helvetica Neue" panose="02000503000000020004" pitchFamily="2" charset="0"/>
              <a:sym typeface="+mn-ea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9384050-A0E1-46C0-A07F-C732D6FC96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8664751"/>
              </p:ext>
            </p:extLst>
          </p:nvPr>
        </p:nvGraphicFramePr>
        <p:xfrm>
          <a:off x="2743200" y="1224000"/>
          <a:ext cx="6259617" cy="263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E7C8ED3-42D2-4D91-874D-F2152E9DA1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863527"/>
              </p:ext>
            </p:extLst>
          </p:nvPr>
        </p:nvGraphicFramePr>
        <p:xfrm>
          <a:off x="94192" y="3957298"/>
          <a:ext cx="5969633" cy="2649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B4A8F14-155E-4891-9BA8-6ECD1EF3F5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7844769"/>
              </p:ext>
            </p:extLst>
          </p:nvPr>
        </p:nvGraphicFramePr>
        <p:xfrm>
          <a:off x="6113992" y="3961532"/>
          <a:ext cx="6246917" cy="2642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3143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34FCAA-E637-A677-9328-7E9CB774D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92" y="1063421"/>
            <a:ext cx="11869941" cy="53527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4B510F3-6E38-749B-967F-4B5302BEE89A}"/>
              </a:ext>
            </a:extLst>
          </p:cNvPr>
          <p:cNvSpPr txBox="1">
            <a:spLocks/>
          </p:cNvSpPr>
          <p:nvPr/>
        </p:nvSpPr>
        <p:spPr>
          <a:xfrm>
            <a:off x="1304290" y="155117"/>
            <a:ext cx="958342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pPr marL="26670" indent="-26670"/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Identifikasi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Kantong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Pecah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GH SCM Infra Mei 2025</a:t>
            </a:r>
            <a:endParaRPr lang="en-GB" altLang="en-US" sz="1400" b="0" dirty="0">
              <a:solidFill>
                <a:schemeClr val="tx1"/>
              </a:solidFill>
              <a:latin typeface="Proxima Nova" panose="02000506030000020004" pitchFamily="2" charset="77"/>
              <a:ea typeface="Helvetica Neue Light" panose="02000403000000020004" pitchFamily="2" charset="0"/>
              <a:cs typeface="Helvetica Neue" panose="02000503000000020004" pitchFamily="2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2280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7E4A77-FD76-8BCA-F159-7EFB658F1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10" y="1069517"/>
            <a:ext cx="11298579" cy="543657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4B510F3-6E38-749B-967F-4B5302BEE89A}"/>
              </a:ext>
            </a:extLst>
          </p:cNvPr>
          <p:cNvSpPr txBox="1">
            <a:spLocks/>
          </p:cNvSpPr>
          <p:nvPr/>
        </p:nvSpPr>
        <p:spPr>
          <a:xfrm>
            <a:off x="1304290" y="155117"/>
            <a:ext cx="958342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pPr marL="26670" indent="-26670"/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Identifikasi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Kantong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Pecah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GH SCM Infra Mei 2025</a:t>
            </a:r>
            <a:endParaRPr lang="en-GB" altLang="en-US" sz="1400" b="0" dirty="0">
              <a:solidFill>
                <a:schemeClr val="tx1"/>
              </a:solidFill>
              <a:latin typeface="Proxima Nova" panose="02000506030000020004" pitchFamily="2" charset="77"/>
              <a:ea typeface="Helvetica Neue Light" panose="02000403000000020004" pitchFamily="2" charset="0"/>
              <a:cs typeface="Helvetica Neue" panose="02000503000000020004" pitchFamily="2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223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DFA717-680B-42E7-17B5-293B6DC9F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09" y="1069518"/>
            <a:ext cx="11298579" cy="554514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4B510F3-6E38-749B-967F-4B5302BEE89A}"/>
              </a:ext>
            </a:extLst>
          </p:cNvPr>
          <p:cNvSpPr txBox="1">
            <a:spLocks/>
          </p:cNvSpPr>
          <p:nvPr/>
        </p:nvSpPr>
        <p:spPr>
          <a:xfrm>
            <a:off x="1304290" y="155117"/>
            <a:ext cx="958342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pPr marL="26670" indent="-26670"/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Identifikasi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Kantong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Pecah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GH SCM Infra Mei 2025</a:t>
            </a:r>
            <a:endParaRPr lang="en-GB" altLang="en-US" sz="1400" b="0" dirty="0">
              <a:solidFill>
                <a:schemeClr val="tx1"/>
              </a:solidFill>
              <a:latin typeface="Proxima Nova" panose="02000506030000020004" pitchFamily="2" charset="77"/>
              <a:ea typeface="Helvetica Neue Light" panose="02000403000000020004" pitchFamily="2" charset="0"/>
              <a:cs typeface="Helvetica Neue" panose="02000503000000020004" pitchFamily="2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338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D54867-1C2D-E3E0-DAAC-F694150BC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88" y="1064729"/>
            <a:ext cx="10937420" cy="549259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4B510F3-6E38-749B-967F-4B5302BEE89A}"/>
              </a:ext>
            </a:extLst>
          </p:cNvPr>
          <p:cNvSpPr txBox="1">
            <a:spLocks/>
          </p:cNvSpPr>
          <p:nvPr/>
        </p:nvSpPr>
        <p:spPr>
          <a:xfrm>
            <a:off x="1304290" y="155117"/>
            <a:ext cx="958342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pPr marL="26670" indent="-26670"/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Identifikasi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Kantong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Pecah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GH SCM Infra Mei 2025</a:t>
            </a:r>
            <a:endParaRPr lang="en-GB" altLang="en-US" sz="1400" b="0" dirty="0">
              <a:solidFill>
                <a:schemeClr val="tx1"/>
              </a:solidFill>
              <a:latin typeface="Proxima Nova" panose="02000506030000020004" pitchFamily="2" charset="77"/>
              <a:ea typeface="Helvetica Neue Light" panose="02000403000000020004" pitchFamily="2" charset="0"/>
              <a:cs typeface="Helvetica Neue" panose="02000503000000020004" pitchFamily="2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5199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EE20F1-EA6A-6064-04B8-A039AE672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7" y="1064729"/>
            <a:ext cx="10769182" cy="556824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4B510F3-6E38-749B-967F-4B5302BEE89A}"/>
              </a:ext>
            </a:extLst>
          </p:cNvPr>
          <p:cNvSpPr txBox="1">
            <a:spLocks/>
          </p:cNvSpPr>
          <p:nvPr/>
        </p:nvSpPr>
        <p:spPr>
          <a:xfrm>
            <a:off x="1304290" y="155117"/>
            <a:ext cx="958342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Helvetica Neue LT Std 75" panose="020B0403020202020204" pitchFamily="34" charset="77"/>
                <a:ea typeface="+mj-ea"/>
                <a:cs typeface="+mj-cs"/>
              </a:defRPr>
            </a:lvl1pPr>
          </a:lstStyle>
          <a:p>
            <a:pPr marL="26670" indent="-26670"/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Identifikasi</a:t>
            </a:r>
            <a:r>
              <a:rPr lang="en-GB" altLang="en-US" dirty="0">
                <a:solidFill>
                  <a:schemeClr val="accent1">
                    <a:lumMod val="75000"/>
                  </a:schemeClr>
                </a:solidFill>
              </a:rPr>
              <a:t> Kantong </a:t>
            </a:r>
            <a:r>
              <a:rPr lang="en-GB" altLang="en-US" dirty="0" err="1">
                <a:solidFill>
                  <a:schemeClr val="accent1">
                    <a:lumMod val="75000"/>
                  </a:schemeClr>
                </a:solidFill>
              </a:rPr>
              <a:t>Pecah</a:t>
            </a:r>
            <a:br>
              <a:rPr lang="en-GB" altLang="en-US" dirty="0">
                <a:solidFill>
                  <a:srgbClr val="FF0000"/>
                </a:solidFill>
              </a:rPr>
            </a:br>
            <a:r>
              <a:rPr lang="en-GB" altLang="en-US" sz="2000" b="0" dirty="0">
                <a:solidFill>
                  <a:schemeClr val="tx1"/>
                </a:solidFill>
                <a:latin typeface="Proxima Nova" panose="02000506030000020004" pitchFamily="2" charset="77"/>
                <a:sym typeface="+mn-ea"/>
              </a:rPr>
              <a:t>GH SCM Infra Mei 2025</a:t>
            </a:r>
            <a:endParaRPr lang="en-GB" altLang="en-US" sz="1400" b="0" dirty="0">
              <a:solidFill>
                <a:schemeClr val="tx1"/>
              </a:solidFill>
              <a:latin typeface="Proxima Nova" panose="02000506030000020004" pitchFamily="2" charset="77"/>
              <a:ea typeface="Helvetica Neue Light" panose="02000403000000020004" pitchFamily="2" charset="0"/>
              <a:cs typeface="Helvetica Neue" panose="02000503000000020004" pitchFamily="2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4891412"/>
      </p:ext>
    </p:extLst>
  </p:cSld>
  <p:clrMapOvr>
    <a:masterClrMapping/>
  </p:clrMapOvr>
</p:sld>
</file>

<file path=ppt/theme/theme1.xml><?xml version="1.0" encoding="utf-8"?>
<a:theme xmlns:a="http://schemas.openxmlformats.org/drawingml/2006/main" name="SIG Template - Blac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IG Template - Blac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G Templat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8_SIG Template - Blac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IG Template - Blac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137</Words>
  <Application>Microsoft Office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Helvetica Neue</vt:lpstr>
      <vt:lpstr>Helvetica Neue LT Std 73 Bold E</vt:lpstr>
      <vt:lpstr>Helvetica Neue LT Std 75</vt:lpstr>
      <vt:lpstr>Helvetica Neue Medium</vt:lpstr>
      <vt:lpstr>Proxima Nova</vt:lpstr>
      <vt:lpstr>SIG Template - Black</vt:lpstr>
      <vt:lpstr>2_SIG Template - Black</vt:lpstr>
      <vt:lpstr>SIG Template Light</vt:lpstr>
      <vt:lpstr>8_SIG Template - Black</vt:lpstr>
      <vt:lpstr>1_SIG Template - Black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Pramita Indah</dc:creator>
  <cp:lastModifiedBy>Pramita Indah</cp:lastModifiedBy>
  <cp:revision>21</cp:revision>
  <dcterms:created xsi:type="dcterms:W3CDTF">2023-02-07T02:44:09Z</dcterms:created>
  <dcterms:modified xsi:type="dcterms:W3CDTF">2025-07-07T06:27:37Z</dcterms:modified>
</cp:coreProperties>
</file>